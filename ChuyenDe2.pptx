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6" r:id="rId9"/>
    <p:sldId id="265" r:id="rId10"/>
  </p:sldIdLst>
  <p:sldSz cx="18288000" cy="10287000"/>
  <p:notesSz cx="6858000" cy="9144000"/>
  <p:embeddedFontLst>
    <p:embeddedFont>
      <p:font typeface="Cocomat Pro" panose="020B0604020202020204" charset="0"/>
      <p:regular r:id="rId11"/>
    </p:embeddedFont>
    <p:embeddedFont>
      <p:font typeface="Cocomat Pro Bold" panose="020B0604020202020204" charset="0"/>
      <p:regular r:id="rId12"/>
    </p:embeddedFont>
    <p:embeddedFont>
      <p:font typeface="Quicksan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9357" y="-316594"/>
            <a:ext cx="18966714" cy="10920189"/>
            <a:chOff x="0" y="0"/>
            <a:chExt cx="4995349" cy="28760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95349" cy="2876099"/>
            </a:xfrm>
            <a:custGeom>
              <a:avLst/>
              <a:gdLst/>
              <a:ahLst/>
              <a:cxnLst/>
              <a:rect l="l" t="t" r="r" b="b"/>
              <a:pathLst>
                <a:path w="4995349" h="2876099">
                  <a:moveTo>
                    <a:pt x="0" y="0"/>
                  </a:moveTo>
                  <a:lnTo>
                    <a:pt x="4995349" y="0"/>
                  </a:lnTo>
                  <a:lnTo>
                    <a:pt x="4995349" y="2876099"/>
                  </a:lnTo>
                  <a:lnTo>
                    <a:pt x="0" y="2876099"/>
                  </a:lnTo>
                  <a:close/>
                </a:path>
              </a:pathLst>
            </a:custGeom>
            <a:ln w="5524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95349" cy="291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81600" y="1035025"/>
            <a:ext cx="8115300" cy="125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6"/>
              </a:lnSpc>
            </a:pPr>
            <a:r>
              <a:rPr lang="en-US" sz="9200" b="1" dirty="0">
                <a:solidFill>
                  <a:srgbClr val="004AA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Chuyên </a:t>
            </a:r>
            <a:r>
              <a:rPr lang="en-US" sz="9200" b="1" dirty="0" err="1">
                <a:solidFill>
                  <a:srgbClr val="004AA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Đề</a:t>
            </a:r>
            <a:r>
              <a:rPr lang="en-US" sz="9200" b="1" dirty="0">
                <a:solidFill>
                  <a:srgbClr val="004AA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02B84-0EC9-0469-08D4-E906CBD9E979}"/>
              </a:ext>
            </a:extLst>
          </p:cNvPr>
          <p:cNvSpPr txBox="1"/>
          <p:nvPr/>
        </p:nvSpPr>
        <p:spPr>
          <a:xfrm>
            <a:off x="1143000" y="2628900"/>
            <a:ext cx="16230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latin typeface="+mj-lt"/>
              </a:rPr>
              <a:t>XÂY DỰNG NỀN TẢNG BÁN HÀNG TRỰC TUYẾN HỖ TRỢ NHIỀU NGƯỜI BÁN VÀ QUẢN LÝ GIAO DỊCH </a:t>
            </a:r>
            <a:endParaRPr lang="en-US" sz="6000" b="1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39357" y="-316594"/>
            <a:ext cx="18966714" cy="10920189"/>
            <a:chOff x="0" y="0"/>
            <a:chExt cx="4995349" cy="28760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95349" cy="2876099"/>
            </a:xfrm>
            <a:custGeom>
              <a:avLst/>
              <a:gdLst/>
              <a:ahLst/>
              <a:cxnLst/>
              <a:rect l="l" t="t" r="r" b="b"/>
              <a:pathLst>
                <a:path w="4995349" h="2876099">
                  <a:moveTo>
                    <a:pt x="0" y="0"/>
                  </a:moveTo>
                  <a:lnTo>
                    <a:pt x="4995349" y="0"/>
                  </a:lnTo>
                  <a:lnTo>
                    <a:pt x="4995349" y="2876099"/>
                  </a:lnTo>
                  <a:lnTo>
                    <a:pt x="0" y="2876099"/>
                  </a:lnTo>
                  <a:close/>
                </a:path>
              </a:pathLst>
            </a:custGeom>
            <a:ln w="5524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995349" cy="291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22383">
            <a:off x="1112037" y="3213601"/>
            <a:ext cx="6534226" cy="4799170"/>
          </a:xfrm>
          <a:custGeom>
            <a:avLst/>
            <a:gdLst/>
            <a:ahLst/>
            <a:cxnLst/>
            <a:rect l="l" t="t" r="r" b="b"/>
            <a:pathLst>
              <a:path w="6534226" h="4799170">
                <a:moveTo>
                  <a:pt x="0" y="0"/>
                </a:moveTo>
                <a:lnTo>
                  <a:pt x="6534226" y="0"/>
                </a:lnTo>
                <a:lnTo>
                  <a:pt x="6534226" y="4799170"/>
                </a:lnTo>
                <a:lnTo>
                  <a:pt x="0" y="47991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005457"/>
            <a:ext cx="8317911" cy="1096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000" b="1">
                <a:solidFill>
                  <a:srgbClr val="004AA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Thành Viên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4095993"/>
            <a:ext cx="1031925" cy="66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2"/>
              </a:lnSpc>
            </a:pPr>
            <a:r>
              <a:rPr lang="en-US" sz="4788">
                <a:solidFill>
                  <a:srgbClr val="004AAD"/>
                </a:solidFill>
                <a:latin typeface="Cocomat Pro"/>
                <a:ea typeface="Cocomat Pro"/>
                <a:cs typeface="Cocomat Pro"/>
                <a:sym typeface="Cocomat Pro"/>
              </a:rPr>
              <a:t>01.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29519" y="4059730"/>
            <a:ext cx="3562207" cy="62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6"/>
              </a:lnSpc>
            </a:pPr>
            <a:r>
              <a:rPr lang="en-US" sz="4646">
                <a:solidFill>
                  <a:srgbClr val="004AAD"/>
                </a:solidFill>
                <a:latin typeface="Quicksand"/>
                <a:ea typeface="Quicksand"/>
                <a:cs typeface="Quicksand"/>
                <a:sym typeface="Quicksand"/>
              </a:rPr>
              <a:t>Lê Hải Đông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5640982"/>
            <a:ext cx="1214867" cy="66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2"/>
              </a:lnSpc>
            </a:pPr>
            <a:r>
              <a:rPr lang="en-US" sz="4788">
                <a:solidFill>
                  <a:srgbClr val="004AAD"/>
                </a:solidFill>
                <a:latin typeface="Cocomat Pro"/>
                <a:ea typeface="Cocomat Pro"/>
                <a:cs typeface="Cocomat Pro"/>
                <a:sym typeface="Cocomat Pro"/>
              </a:rPr>
              <a:t>03.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29519" y="5604719"/>
            <a:ext cx="6299509" cy="62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6"/>
              </a:lnSpc>
            </a:pPr>
            <a:r>
              <a:rPr lang="en-US" sz="4646">
                <a:solidFill>
                  <a:srgbClr val="004AAD"/>
                </a:solidFill>
                <a:latin typeface="Quicksand"/>
                <a:ea typeface="Quicksand"/>
                <a:cs typeface="Quicksand"/>
                <a:sym typeface="Quicksand"/>
              </a:rPr>
              <a:t>Nguyễn Tuấn Khanh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4868488"/>
            <a:ext cx="1214867" cy="662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2"/>
              </a:lnSpc>
            </a:pPr>
            <a:r>
              <a:rPr lang="en-US" sz="4788">
                <a:solidFill>
                  <a:srgbClr val="004AAD"/>
                </a:solidFill>
                <a:latin typeface="Cocomat Pro"/>
                <a:ea typeface="Cocomat Pro"/>
                <a:cs typeface="Cocomat Pro"/>
                <a:sym typeface="Cocomat Pro"/>
              </a:rPr>
              <a:t>02.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29519" y="4832224"/>
            <a:ext cx="5354145" cy="62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6"/>
              </a:lnSpc>
            </a:pPr>
            <a:r>
              <a:rPr lang="en-US" sz="4646">
                <a:solidFill>
                  <a:srgbClr val="004AAD"/>
                </a:solidFill>
                <a:latin typeface="Quicksand"/>
                <a:ea typeface="Quicksand"/>
                <a:cs typeface="Quicksand"/>
                <a:sym typeface="Quicksand"/>
              </a:rPr>
              <a:t>Nguyễn Đức Duy 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DC9FE603-AB63-EC8D-A6B5-5BA0A4BEE7F5}"/>
              </a:ext>
            </a:extLst>
          </p:cNvPr>
          <p:cNvSpPr txBox="1"/>
          <p:nvPr/>
        </p:nvSpPr>
        <p:spPr>
          <a:xfrm>
            <a:off x="10358867" y="1944313"/>
            <a:ext cx="792913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86"/>
              </a:lnSpc>
            </a:pPr>
            <a:r>
              <a:rPr lang="vi-VN" sz="4646" dirty="0">
                <a:solidFill>
                  <a:srgbClr val="004AAD"/>
                </a:solidFill>
                <a:latin typeface="Quicksand"/>
                <a:ea typeface="Quicksand"/>
                <a:cs typeface="Quicksand"/>
                <a:sym typeface="Quicksand"/>
              </a:rPr>
              <a:t>GVHD: DƯƠNG ANH TUẤN </a:t>
            </a:r>
            <a:endParaRPr lang="en-US" sz="4646" dirty="0">
              <a:solidFill>
                <a:srgbClr val="004AAD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57314" y="1381862"/>
            <a:ext cx="5898138" cy="7713776"/>
            <a:chOff x="0" y="0"/>
            <a:chExt cx="4880610" cy="6383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blipFill>
              <a:blip r:embed="rId2"/>
              <a:stretch>
                <a:fillRect t="-7258" b="-72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39357" y="-316594"/>
            <a:ext cx="18966714" cy="10920189"/>
            <a:chOff x="0" y="0"/>
            <a:chExt cx="4995349" cy="28760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95349" cy="2876099"/>
            </a:xfrm>
            <a:custGeom>
              <a:avLst/>
              <a:gdLst/>
              <a:ahLst/>
              <a:cxnLst/>
              <a:rect l="l" t="t" r="r" b="b"/>
              <a:pathLst>
                <a:path w="4995349" h="2876099">
                  <a:moveTo>
                    <a:pt x="0" y="0"/>
                  </a:moveTo>
                  <a:lnTo>
                    <a:pt x="4995349" y="0"/>
                  </a:lnTo>
                  <a:lnTo>
                    <a:pt x="4995349" y="2876099"/>
                  </a:lnTo>
                  <a:lnTo>
                    <a:pt x="0" y="2876099"/>
                  </a:lnTo>
                  <a:close/>
                </a:path>
              </a:pathLst>
            </a:custGeom>
            <a:ln w="5524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995349" cy="291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104901">
            <a:off x="9188280" y="5698677"/>
            <a:ext cx="4603541" cy="2972938"/>
          </a:xfrm>
          <a:custGeom>
            <a:avLst/>
            <a:gdLst/>
            <a:ahLst/>
            <a:cxnLst/>
            <a:rect l="l" t="t" r="r" b="b"/>
            <a:pathLst>
              <a:path w="4603541" h="2972938">
                <a:moveTo>
                  <a:pt x="0" y="0"/>
                </a:moveTo>
                <a:lnTo>
                  <a:pt x="4603541" y="0"/>
                </a:lnTo>
                <a:lnTo>
                  <a:pt x="4603541" y="2972938"/>
                </a:lnTo>
                <a:lnTo>
                  <a:pt x="0" y="297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695739"/>
            <a:ext cx="9119633" cy="1096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000" b="1">
                <a:solidFill>
                  <a:srgbClr val="004AA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Lý do chọn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5278" y="2031038"/>
            <a:ext cx="11560473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96"/>
              </a:lnSpc>
            </a:pPr>
            <a:r>
              <a:rPr lang="vi-VN" sz="3600" dirty="0">
                <a:latin typeface="+mj-lt"/>
              </a:rPr>
              <a:t>Nhu cầu mua sắm trực tuyến ngày càng gia tăng và trở thành xu hướng phổ biến</a:t>
            </a:r>
            <a:r>
              <a:rPr lang="en-US" sz="3600" dirty="0">
                <a:solidFill>
                  <a:srgbClr val="004AAD"/>
                </a:solidFill>
                <a:latin typeface="+mj-lt"/>
                <a:ea typeface="Quicksand"/>
                <a:cs typeface="Quicksand"/>
                <a:sym typeface="Quicksand"/>
              </a:rPr>
              <a:t>.</a:t>
            </a:r>
          </a:p>
          <a:p>
            <a:pPr algn="l">
              <a:lnSpc>
                <a:spcPts val="3090"/>
              </a:lnSpc>
            </a:pPr>
            <a:endParaRPr lang="en-US" sz="3200" dirty="0">
              <a:solidFill>
                <a:srgbClr val="004AAD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45278" y="3401194"/>
            <a:ext cx="8727875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vi-VN" sz="3600" dirty="0">
                <a:latin typeface="+mj-lt"/>
              </a:rPr>
              <a:t>Cá nhân và cửa hàng nhỏ vẫn gặp khó khăn trong việc quản lý bán hàng và giao dịch trên môi trường trực tuyến</a:t>
            </a:r>
            <a:endParaRPr lang="en-US" sz="3399" dirty="0">
              <a:solidFill>
                <a:srgbClr val="004AAD"/>
              </a:solidFill>
              <a:latin typeface="+mj-lt"/>
              <a:ea typeface="Quicksand"/>
              <a:cs typeface="Quicksand"/>
              <a:sym typeface="Quicksan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6E79B7-CD39-B4D8-C9D0-1EDE6FF640DC}"/>
              </a:ext>
            </a:extLst>
          </p:cNvPr>
          <p:cNvSpPr txBox="1"/>
          <p:nvPr/>
        </p:nvSpPr>
        <p:spPr>
          <a:xfrm>
            <a:off x="1345277" y="5238881"/>
            <a:ext cx="8727875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vi-VN" sz="3600" dirty="0"/>
              <a:t>Giúp kết nối người mua và người bán hiệu quả hơn, hỗ trợ quản lý giao dịch thuận tiện</a:t>
            </a:r>
            <a:endParaRPr lang="en-US" sz="3399" dirty="0">
              <a:solidFill>
                <a:srgbClr val="004AAD"/>
              </a:solidFill>
              <a:latin typeface="+mj-lt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3902-B874-1E57-5116-11BABF009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D6615A-1A3E-98F7-951D-B15C4CF4D88A}"/>
              </a:ext>
            </a:extLst>
          </p:cNvPr>
          <p:cNvGrpSpPr/>
          <p:nvPr/>
        </p:nvGrpSpPr>
        <p:grpSpPr>
          <a:xfrm>
            <a:off x="13157314" y="1381862"/>
            <a:ext cx="5898138" cy="7713776"/>
            <a:chOff x="0" y="0"/>
            <a:chExt cx="4880610" cy="63830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5DEBE76-1C69-F6F6-C19E-55681B1E9C74}"/>
                </a:ext>
              </a:extLst>
            </p:cNvPr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blipFill>
              <a:blip r:embed="rId2"/>
              <a:stretch>
                <a:fillRect t="-7258" b="-72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E3FA9EA-8F7B-3766-5058-D5C05C17E1ED}"/>
              </a:ext>
            </a:extLst>
          </p:cNvPr>
          <p:cNvGrpSpPr/>
          <p:nvPr/>
        </p:nvGrpSpPr>
        <p:grpSpPr>
          <a:xfrm>
            <a:off x="-339357" y="-316594"/>
            <a:ext cx="18966714" cy="10920189"/>
            <a:chOff x="0" y="0"/>
            <a:chExt cx="4995349" cy="287609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020521E-03C4-9126-C844-97E03B81C411}"/>
                </a:ext>
              </a:extLst>
            </p:cNvPr>
            <p:cNvSpPr/>
            <p:nvPr/>
          </p:nvSpPr>
          <p:spPr>
            <a:xfrm>
              <a:off x="0" y="0"/>
              <a:ext cx="4995349" cy="2876099"/>
            </a:xfrm>
            <a:custGeom>
              <a:avLst/>
              <a:gdLst/>
              <a:ahLst/>
              <a:cxnLst/>
              <a:rect l="l" t="t" r="r" b="b"/>
              <a:pathLst>
                <a:path w="4995349" h="2876099">
                  <a:moveTo>
                    <a:pt x="0" y="0"/>
                  </a:moveTo>
                  <a:lnTo>
                    <a:pt x="4995349" y="0"/>
                  </a:lnTo>
                  <a:lnTo>
                    <a:pt x="4995349" y="2876099"/>
                  </a:lnTo>
                  <a:lnTo>
                    <a:pt x="0" y="2876099"/>
                  </a:lnTo>
                  <a:close/>
                </a:path>
              </a:pathLst>
            </a:custGeom>
            <a:ln w="5524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B2103DE-8B81-84C7-08C3-611CC263495B}"/>
                </a:ext>
              </a:extLst>
            </p:cNvPr>
            <p:cNvSpPr txBox="1"/>
            <p:nvPr/>
          </p:nvSpPr>
          <p:spPr>
            <a:xfrm>
              <a:off x="0" y="-38100"/>
              <a:ext cx="4995349" cy="291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DD0536A-AEB0-A075-08A1-AC35B7739D90}"/>
              </a:ext>
            </a:extLst>
          </p:cNvPr>
          <p:cNvSpPr/>
          <p:nvPr/>
        </p:nvSpPr>
        <p:spPr>
          <a:xfrm rot="104901">
            <a:off x="9188280" y="5698677"/>
            <a:ext cx="4603541" cy="2972938"/>
          </a:xfrm>
          <a:custGeom>
            <a:avLst/>
            <a:gdLst/>
            <a:ahLst/>
            <a:cxnLst/>
            <a:rect l="l" t="t" r="r" b="b"/>
            <a:pathLst>
              <a:path w="4603541" h="2972938">
                <a:moveTo>
                  <a:pt x="0" y="0"/>
                </a:moveTo>
                <a:lnTo>
                  <a:pt x="4603541" y="0"/>
                </a:lnTo>
                <a:lnTo>
                  <a:pt x="4603541" y="2972938"/>
                </a:lnTo>
                <a:lnTo>
                  <a:pt x="0" y="297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5CA884-5F57-739B-4867-511AC388F60F}"/>
              </a:ext>
            </a:extLst>
          </p:cNvPr>
          <p:cNvSpPr txBox="1"/>
          <p:nvPr/>
        </p:nvSpPr>
        <p:spPr>
          <a:xfrm>
            <a:off x="1028700" y="695739"/>
            <a:ext cx="9119633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vi-VN" sz="8000" b="1" dirty="0">
                <a:solidFill>
                  <a:srgbClr val="004AAD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Khó khăn </a:t>
            </a:r>
            <a:endParaRPr lang="en-US" sz="8000" b="1" dirty="0">
              <a:solidFill>
                <a:srgbClr val="004AAD"/>
              </a:solidFill>
              <a:latin typeface="Cocomat Pro Bold"/>
              <a:ea typeface="Cocomat Pro Bold"/>
              <a:cs typeface="Cocomat Pro Bold"/>
              <a:sym typeface="Cocomat Pro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F484DE4-F4AF-D046-DB1A-53B8A5D50C3F}"/>
              </a:ext>
            </a:extLst>
          </p:cNvPr>
          <p:cNvSpPr txBox="1"/>
          <p:nvPr/>
        </p:nvSpPr>
        <p:spPr>
          <a:xfrm>
            <a:off x="1345276" y="2703175"/>
            <a:ext cx="8727875" cy="90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vi-VN" sz="3600" dirty="0"/>
              <a:t>Xử lý và đồng bộ các giao dịch, đơn hàng và thanh toán</a:t>
            </a:r>
            <a:endParaRPr lang="en-US" sz="3399" dirty="0">
              <a:solidFill>
                <a:srgbClr val="004AAD"/>
              </a:solidFill>
              <a:latin typeface="+mj-lt"/>
              <a:ea typeface="Quicksand"/>
              <a:cs typeface="Quicksand"/>
              <a:sym typeface="Quicksan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C56345-E4E4-CF39-094C-11C1FF9BE1E4}"/>
              </a:ext>
            </a:extLst>
          </p:cNvPr>
          <p:cNvSpPr txBox="1"/>
          <p:nvPr/>
        </p:nvSpPr>
        <p:spPr>
          <a:xfrm>
            <a:off x="1345275" y="4302338"/>
            <a:ext cx="8727875" cy="90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vi-VN" sz="3600" dirty="0"/>
              <a:t>Tính bảo mật cho tài khoản và dữ liệu người dùng</a:t>
            </a:r>
            <a:endParaRPr lang="en-US" sz="3399" dirty="0">
              <a:solidFill>
                <a:srgbClr val="004AAD"/>
              </a:solidFill>
              <a:latin typeface="+mj-lt"/>
              <a:ea typeface="Quicksand"/>
              <a:cs typeface="Quicksand"/>
              <a:sym typeface="Quicksan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0BEBD-4BC1-7F28-BF23-DA4F836AAE7C}"/>
              </a:ext>
            </a:extLst>
          </p:cNvPr>
          <p:cNvSpPr txBox="1"/>
          <p:nvPr/>
        </p:nvSpPr>
        <p:spPr>
          <a:xfrm>
            <a:off x="1345274" y="5901501"/>
            <a:ext cx="8727875" cy="903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vi-VN" sz="3600" dirty="0"/>
              <a:t>Giao diện thân thiện và tối ưu trên nhiều thiết bị còn gặp nhiều hạn chế.</a:t>
            </a:r>
            <a:endParaRPr lang="en-US" sz="3399" dirty="0">
              <a:solidFill>
                <a:srgbClr val="004AAD"/>
              </a:solidFill>
              <a:latin typeface="+mj-lt"/>
              <a:ea typeface="Quicksand"/>
              <a:cs typeface="Quicksand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1641584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7781-FE9B-B08C-DE77-66AFFC72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60C40F-3FCD-07A1-6EAE-BD2806D31EAC}"/>
              </a:ext>
            </a:extLst>
          </p:cNvPr>
          <p:cNvGrpSpPr/>
          <p:nvPr/>
        </p:nvGrpSpPr>
        <p:grpSpPr>
          <a:xfrm>
            <a:off x="13157314" y="1381862"/>
            <a:ext cx="5898138" cy="7713776"/>
            <a:chOff x="0" y="0"/>
            <a:chExt cx="4880610" cy="638302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7D6DC18-135C-92B6-3A47-F1AB186BDC0B}"/>
                </a:ext>
              </a:extLst>
            </p:cNvPr>
            <p:cNvSpPr/>
            <p:nvPr/>
          </p:nvSpPr>
          <p:spPr>
            <a:xfrm>
              <a:off x="0" y="0"/>
              <a:ext cx="4879340" cy="6383238"/>
            </a:xfrm>
            <a:custGeom>
              <a:avLst/>
              <a:gdLst/>
              <a:ahLst/>
              <a:cxnLst/>
              <a:rect l="l" t="t" r="r" b="b"/>
              <a:pathLst>
                <a:path w="4879340" h="6383238">
                  <a:moveTo>
                    <a:pt x="1705610" y="2045970"/>
                  </a:moveTo>
                  <a:cubicBezTo>
                    <a:pt x="1300480" y="1916430"/>
                    <a:pt x="937260" y="1748790"/>
                    <a:pt x="618490" y="1541780"/>
                  </a:cubicBezTo>
                  <a:lnTo>
                    <a:pt x="618490" y="0"/>
                  </a:lnTo>
                  <a:cubicBezTo>
                    <a:pt x="1761490" y="477520"/>
                    <a:pt x="2952750" y="1047750"/>
                    <a:pt x="4199890" y="1188720"/>
                  </a:cubicBezTo>
                  <a:cubicBezTo>
                    <a:pt x="4578350" y="1230630"/>
                    <a:pt x="4865370" y="1550670"/>
                    <a:pt x="4865370" y="1930400"/>
                  </a:cubicBezTo>
                  <a:cubicBezTo>
                    <a:pt x="4865370" y="2198370"/>
                    <a:pt x="4711700" y="2442210"/>
                    <a:pt x="4469130" y="2557780"/>
                  </a:cubicBezTo>
                  <a:cubicBezTo>
                    <a:pt x="4328160" y="2625090"/>
                    <a:pt x="4178300" y="2693670"/>
                    <a:pt x="4071620" y="2733040"/>
                  </a:cubicBezTo>
                  <a:lnTo>
                    <a:pt x="4164330" y="2733040"/>
                  </a:lnTo>
                  <a:cubicBezTo>
                    <a:pt x="4560570" y="2735580"/>
                    <a:pt x="4879340" y="3056890"/>
                    <a:pt x="4879340" y="3453130"/>
                  </a:cubicBezTo>
                  <a:lnTo>
                    <a:pt x="4879340" y="3708400"/>
                  </a:lnTo>
                  <a:cubicBezTo>
                    <a:pt x="4879340" y="4017010"/>
                    <a:pt x="4682490" y="4291330"/>
                    <a:pt x="4390390" y="4389120"/>
                  </a:cubicBezTo>
                  <a:cubicBezTo>
                    <a:pt x="3708400" y="4622800"/>
                    <a:pt x="2984500" y="4791710"/>
                    <a:pt x="2231390" y="4909820"/>
                  </a:cubicBezTo>
                  <a:cubicBezTo>
                    <a:pt x="2881630" y="5016500"/>
                    <a:pt x="3553460" y="5017770"/>
                    <a:pt x="4246880" y="4904740"/>
                  </a:cubicBezTo>
                  <a:lnTo>
                    <a:pt x="4246880" y="6311900"/>
                  </a:lnTo>
                  <a:cubicBezTo>
                    <a:pt x="2879090" y="6484620"/>
                    <a:pt x="1550670" y="6370320"/>
                    <a:pt x="302260" y="5673090"/>
                  </a:cubicBezTo>
                  <a:cubicBezTo>
                    <a:pt x="115570" y="5570220"/>
                    <a:pt x="0" y="5373370"/>
                    <a:pt x="0" y="5161280"/>
                  </a:cubicBezTo>
                  <a:cubicBezTo>
                    <a:pt x="0" y="4523740"/>
                    <a:pt x="491490" y="3992880"/>
                    <a:pt x="1126490" y="3944620"/>
                  </a:cubicBezTo>
                  <a:cubicBezTo>
                    <a:pt x="1397000" y="3924300"/>
                    <a:pt x="1662430" y="3896360"/>
                    <a:pt x="1922780" y="3860800"/>
                  </a:cubicBezTo>
                  <a:lnTo>
                    <a:pt x="880110" y="3854450"/>
                  </a:lnTo>
                  <a:cubicBezTo>
                    <a:pt x="393700" y="3849370"/>
                    <a:pt x="0" y="3454400"/>
                    <a:pt x="0" y="2966720"/>
                  </a:cubicBezTo>
                  <a:cubicBezTo>
                    <a:pt x="0" y="2528570"/>
                    <a:pt x="340360" y="2166620"/>
                    <a:pt x="777240" y="2138680"/>
                  </a:cubicBezTo>
                  <a:cubicBezTo>
                    <a:pt x="1089660" y="2118360"/>
                    <a:pt x="1399540" y="2087880"/>
                    <a:pt x="1705610" y="2045970"/>
                  </a:cubicBezTo>
                  <a:close/>
                </a:path>
              </a:pathLst>
            </a:custGeom>
            <a:blipFill>
              <a:blip r:embed="rId2"/>
              <a:stretch>
                <a:fillRect t="-7258" b="-7258"/>
              </a:stretch>
            </a:blipFill>
          </p:spPr>
          <p:txBody>
            <a:bodyPr/>
            <a:lstStyle/>
            <a:p>
              <a:endParaRPr lang="en-US" sz="4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651E6E6-ECC2-3236-59C2-1956299E2D87}"/>
              </a:ext>
            </a:extLst>
          </p:cNvPr>
          <p:cNvGrpSpPr/>
          <p:nvPr/>
        </p:nvGrpSpPr>
        <p:grpSpPr>
          <a:xfrm>
            <a:off x="-339357" y="-316594"/>
            <a:ext cx="18966714" cy="10920189"/>
            <a:chOff x="0" y="0"/>
            <a:chExt cx="4995349" cy="2876099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0369FF4-C4A5-A3A5-D3FD-8F2B80520103}"/>
                </a:ext>
              </a:extLst>
            </p:cNvPr>
            <p:cNvSpPr/>
            <p:nvPr/>
          </p:nvSpPr>
          <p:spPr>
            <a:xfrm>
              <a:off x="0" y="0"/>
              <a:ext cx="4995349" cy="2876099"/>
            </a:xfrm>
            <a:custGeom>
              <a:avLst/>
              <a:gdLst/>
              <a:ahLst/>
              <a:cxnLst/>
              <a:rect l="l" t="t" r="r" b="b"/>
              <a:pathLst>
                <a:path w="4995349" h="2876099">
                  <a:moveTo>
                    <a:pt x="0" y="0"/>
                  </a:moveTo>
                  <a:lnTo>
                    <a:pt x="4995349" y="0"/>
                  </a:lnTo>
                  <a:lnTo>
                    <a:pt x="4995349" y="2876099"/>
                  </a:lnTo>
                  <a:lnTo>
                    <a:pt x="0" y="2876099"/>
                  </a:lnTo>
                  <a:close/>
                </a:path>
              </a:pathLst>
            </a:custGeom>
            <a:ln w="552450" cap="sq">
              <a:solidFill>
                <a:srgbClr val="004AAD"/>
              </a:solidFill>
              <a:prstDash val="solid"/>
              <a:miter/>
            </a:ln>
          </p:spPr>
          <p:txBody>
            <a:bodyPr/>
            <a:lstStyle/>
            <a:p>
              <a:endParaRPr lang="en-US" sz="4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8209128-4775-9002-DD25-CFEAE1624CAB}"/>
                </a:ext>
              </a:extLst>
            </p:cNvPr>
            <p:cNvSpPr txBox="1"/>
            <p:nvPr/>
          </p:nvSpPr>
          <p:spPr>
            <a:xfrm>
              <a:off x="0" y="-38100"/>
              <a:ext cx="4995349" cy="2914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sz="4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19C0610-2DE8-6A99-2DF9-1F72BADEC5CD}"/>
              </a:ext>
            </a:extLst>
          </p:cNvPr>
          <p:cNvSpPr/>
          <p:nvPr/>
        </p:nvSpPr>
        <p:spPr>
          <a:xfrm rot="104901">
            <a:off x="9188280" y="5698677"/>
            <a:ext cx="4603541" cy="2972938"/>
          </a:xfrm>
          <a:custGeom>
            <a:avLst/>
            <a:gdLst/>
            <a:ahLst/>
            <a:cxnLst/>
            <a:rect l="l" t="t" r="r" b="b"/>
            <a:pathLst>
              <a:path w="4603541" h="2972938">
                <a:moveTo>
                  <a:pt x="0" y="0"/>
                </a:moveTo>
                <a:lnTo>
                  <a:pt x="4603541" y="0"/>
                </a:lnTo>
                <a:lnTo>
                  <a:pt x="4603541" y="2972938"/>
                </a:lnTo>
                <a:lnTo>
                  <a:pt x="0" y="29729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FFD11E9-828A-D95F-9CBF-E6C8148CE0DB}"/>
              </a:ext>
            </a:extLst>
          </p:cNvPr>
          <p:cNvSpPr txBox="1"/>
          <p:nvPr/>
        </p:nvSpPr>
        <p:spPr>
          <a:xfrm>
            <a:off x="1028700" y="695739"/>
            <a:ext cx="9119633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40"/>
              </a:lnSpc>
            </a:pPr>
            <a:r>
              <a:rPr lang="vi-VN" sz="8000" b="1" dirty="0">
                <a:solidFill>
                  <a:srgbClr val="004AAD"/>
                </a:solidFill>
                <a:latin typeface="Times New Roman" panose="02020603050405020304" pitchFamily="18" charset="0"/>
                <a:ea typeface="Cocomat Pro Bold"/>
                <a:cs typeface="Times New Roman" panose="02020603050405020304" pitchFamily="18" charset="0"/>
                <a:sym typeface="Cocomat Pro Bold"/>
              </a:rPr>
              <a:t>Thuận Lợi  </a:t>
            </a:r>
            <a:endParaRPr lang="en-US" sz="8000" b="1" dirty="0">
              <a:solidFill>
                <a:srgbClr val="004AAD"/>
              </a:solidFill>
              <a:latin typeface="Times New Roman" panose="02020603050405020304" pitchFamily="18" charset="0"/>
              <a:ea typeface="Cocomat Pro Bold"/>
              <a:cs typeface="Times New Roman" panose="02020603050405020304" pitchFamily="18" charset="0"/>
              <a:sym typeface="Cocomat Pro 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D0B68BE-7945-B5D1-B5E5-46518952E073}"/>
              </a:ext>
            </a:extLst>
          </p:cNvPr>
          <p:cNvSpPr txBox="1"/>
          <p:nvPr/>
        </p:nvSpPr>
        <p:spPr>
          <a:xfrm>
            <a:off x="1345276" y="2703175"/>
            <a:ext cx="8727875" cy="1356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Nhu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sắm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endParaRPr lang="en-US" sz="4400" dirty="0">
              <a:solidFill>
                <a:srgbClr val="004AAD"/>
              </a:solidFill>
              <a:latin typeface="Times New Roman" panose="02020603050405020304" pitchFamily="18" charset="0"/>
              <a:ea typeface="Quicksand"/>
              <a:cs typeface="Times New Roman" panose="02020603050405020304" pitchFamily="18" charset="0"/>
              <a:sym typeface="Quicksan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27033F-2097-563B-DF92-C6F2D4192CD9}"/>
              </a:ext>
            </a:extLst>
          </p:cNvPr>
          <p:cNvSpPr txBox="1"/>
          <p:nvPr/>
        </p:nvSpPr>
        <p:spPr>
          <a:xfrm>
            <a:off x="1345275" y="4302338"/>
            <a:ext cx="8727875" cy="91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vi-V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nền tảng thương mại điện tử.</a:t>
            </a:r>
            <a:endParaRPr lang="en-US" sz="4400" dirty="0">
              <a:solidFill>
                <a:srgbClr val="004AAD"/>
              </a:solidFill>
              <a:latin typeface="Times New Roman" panose="02020603050405020304" pitchFamily="18" charset="0"/>
              <a:ea typeface="Quicksand"/>
              <a:cs typeface="Times New Roman" panose="02020603050405020304" pitchFamily="18" charset="0"/>
              <a:sym typeface="Quicksan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63B9CA-7200-12B2-78C4-A39ECB6DF542}"/>
              </a:ext>
            </a:extLst>
          </p:cNvPr>
          <p:cNvSpPr txBox="1"/>
          <p:nvPr/>
        </p:nvSpPr>
        <p:spPr>
          <a:xfrm>
            <a:off x="1224578" y="5535713"/>
            <a:ext cx="8727875" cy="91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1"/>
              </a:lnSpc>
            </a:pPr>
            <a:r>
              <a:rPr lang="vi-V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thân thiện dễ nhìn , dễ sử dụng .</a:t>
            </a:r>
            <a:endParaRPr lang="en-US" sz="4400" dirty="0">
              <a:solidFill>
                <a:srgbClr val="004AAD"/>
              </a:solidFill>
              <a:latin typeface="Times New Roman" panose="02020603050405020304" pitchFamily="18" charset="0"/>
              <a:ea typeface="Quicksand"/>
              <a:cs typeface="Times New Roman" panose="02020603050405020304" pitchFamily="18" charset="0"/>
              <a:sym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376818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EED4E-E556-A2FA-D066-A3636765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443574F-5F1E-FC5D-9DFF-04975C813A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94869"/>
            <a:ext cx="15695119" cy="943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090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F9FEC-C76A-96A3-47C2-4D4CB87C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FBF8C6-55BD-29DA-1250-5AD28467DA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-558089"/>
            <a:ext cx="18592800" cy="1084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10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064F4B-15E5-5CD5-FDC8-ED12D4D07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54" y="0"/>
            <a:ext cx="15898091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88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C881F9-A5A5-2939-38D2-2EA83DEF8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50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198</Words>
  <Application>Microsoft Office PowerPoint</Application>
  <PresentationFormat>Custom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Calibri</vt:lpstr>
      <vt:lpstr>Quicksand</vt:lpstr>
      <vt:lpstr>Cocomat Pro Bold</vt:lpstr>
      <vt:lpstr>Cocomat Pro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Coloré Entreprise Présentation de Projet Marketing Illustratif</dc:title>
  <cp:lastModifiedBy>duy nguyễn</cp:lastModifiedBy>
  <cp:revision>5</cp:revision>
  <dcterms:created xsi:type="dcterms:W3CDTF">2006-08-16T00:00:00Z</dcterms:created>
  <dcterms:modified xsi:type="dcterms:W3CDTF">2026-05-08T07:35:58Z</dcterms:modified>
  <dc:identifier>DAG49ziJS_k</dc:identifier>
</cp:coreProperties>
</file>